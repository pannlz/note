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59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9120" y="385445"/>
            <a:ext cx="11012170" cy="753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Financial news sentiment meets market data: A large language model-based approach to stock price prediction</a:t>
            </a:r>
            <a:endParaRPr lang="en-US" altLang="zh-CN"/>
          </a:p>
          <a:p>
            <a:r>
              <a:rPr lang="en-US" altLang="zh-CN"/>
              <a:t>Information Sciences 2026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79120" y="2748280"/>
            <a:ext cx="10955020" cy="3836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- 现有研究要么只用价格和经济指标，要么只研究情感与股价相关性，较少系统比较“</a:t>
            </a:r>
            <a:r>
              <a:rPr lang="en-US" altLang="zh-CN"/>
              <a:t>LLM </a:t>
            </a:r>
            <a:r>
              <a:rPr lang="zh-CN" altLang="en-US"/>
              <a:t>情感 + 技术指标 + 深度预测模型”的组合效果</a:t>
            </a:r>
            <a:endParaRPr lang="zh-CN" altLang="en-US"/>
          </a:p>
          <a:p>
            <a:r>
              <a:rPr lang="zh-CN" altLang="en-US"/>
              <a:t>- 如何把金融新闻标题中的情绪信息，通过通用 </a:t>
            </a:r>
            <a:r>
              <a:rPr lang="en-US" altLang="zh-CN"/>
              <a:t>LLM </a:t>
            </a:r>
            <a:r>
              <a:rPr lang="zh-CN" altLang="en-US"/>
              <a:t>零样本抽取出来，并与历史市场数据、技术指标结合，用于股票收盘价预测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创新点：</a:t>
            </a:r>
            <a:endParaRPr lang="en-US" altLang="zh-CN"/>
          </a:p>
          <a:p>
            <a:r>
              <a:rPr lang="zh-CN" altLang="en-US"/>
              <a:t>- 将通用开源 </a:t>
            </a:r>
            <a:r>
              <a:rPr lang="en-US" altLang="zh-CN"/>
              <a:t>LLM </a:t>
            </a:r>
            <a:r>
              <a:rPr lang="zh-CN" altLang="en-US"/>
              <a:t>的零样本金融情感抽取接入股票价格预测流程</a:t>
            </a:r>
            <a:endParaRPr lang="zh-CN" altLang="en-US"/>
          </a:p>
          <a:p>
            <a:r>
              <a:rPr lang="en-US" altLang="zh-CN"/>
              <a:t>-  LLM </a:t>
            </a:r>
            <a:r>
              <a:rPr lang="zh-CN" altLang="en-US"/>
              <a:t>提取情感分数，按日期聚合成情感特征后与技术指标/历史价格合并输入 </a:t>
            </a:r>
            <a:r>
              <a:rPr lang="en-US" altLang="zh-CN"/>
              <a:t>LSTM/GAN/Transformer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2185" y="851535"/>
            <a:ext cx="3265170" cy="17392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415" y="290195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zh-CN" altLang="en-US" sz="1800"/>
              <a:t>普通投资者很难同时理解量化指标和大量非结构化金融新闻；直接问 </a:t>
            </a:r>
            <a:r>
              <a:rPr lang="en-US" altLang="zh-CN" sz="1800"/>
              <a:t>LLM </a:t>
            </a:r>
            <a:r>
              <a:rPr lang="zh-CN" altLang="en-US" sz="1800"/>
              <a:t>又依赖用户会提专业问题</a:t>
            </a:r>
            <a:endParaRPr lang="zh-CN" altLang="en-US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创新点：</a:t>
            </a: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- 用一个多模态金融报告 </a:t>
            </a:r>
            <a:r>
              <a:rPr lang="en-US" altLang="zh-CN" sz="1800"/>
              <a:t>Agent，</a:t>
            </a:r>
            <a:r>
              <a:rPr lang="zh-CN" altLang="en-US" sz="1800"/>
              <a:t>把股票结构化因子、金融新闻语义事件、收益预测、风险评估和 </a:t>
            </a:r>
            <a:r>
              <a:rPr lang="en-US" altLang="zh-CN" sz="1800"/>
              <a:t>LLM </a:t>
            </a:r>
            <a:r>
              <a:rPr lang="zh-CN" altLang="en-US" sz="1800"/>
              <a:t>报告生成串成端到端系统，面向普通投资者输出可解释的投资分析报告。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 </a:t>
            </a:r>
            <a:r>
              <a:rPr lang="zh-CN" altLang="en-US" sz="1800"/>
              <a:t>用 </a:t>
            </a:r>
            <a:r>
              <a:rPr lang="en-US" altLang="zh-CN" sz="1800"/>
              <a:t>RoBERTa、SRL、SDPG </a:t>
            </a:r>
            <a:r>
              <a:rPr lang="zh-CN" altLang="en-US" sz="1800"/>
              <a:t>和图神经网络把新闻转成事件知识图谱和新闻影响因子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在 </a:t>
            </a:r>
            <a:r>
              <a:rPr lang="en-US" altLang="zh-CN" sz="1800"/>
              <a:t>Fama-French 5 </a:t>
            </a:r>
            <a:r>
              <a:rPr lang="zh-CN" altLang="en-US" sz="1800"/>
              <a:t>因子模型中加入新闻影响因子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在 </a:t>
            </a:r>
            <a:r>
              <a:rPr lang="en-US" altLang="zh-CN" sz="1800"/>
              <a:t>EGARCH/VaR，</a:t>
            </a:r>
            <a:r>
              <a:rPr lang="zh-CN" altLang="en-US" sz="1800"/>
              <a:t>把新闻事件冲击纳入波动率和尾部风险估计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-MMRepAgent </a:t>
            </a:r>
            <a:r>
              <a:rPr lang="zh-CN" altLang="en-US" sz="1800"/>
              <a:t>表现优于 </a:t>
            </a:r>
            <a:r>
              <a:rPr lang="en-US" altLang="zh-CN" sz="1800"/>
              <a:t>FinAgent</a:t>
            </a:r>
            <a:r>
              <a:rPr lang="zh-CN" altLang="en-US" sz="1800"/>
              <a:t>（</a:t>
            </a:r>
            <a:r>
              <a:rPr lang="en-US" altLang="zh-CN" sz="1800"/>
              <a:t>KDD 2024</a:t>
            </a:r>
            <a:r>
              <a:rPr lang="zh-CN" altLang="en-US" sz="1800"/>
              <a:t>）</a:t>
            </a:r>
            <a:r>
              <a:rPr lang="en-US" altLang="zh-CN" sz="1800"/>
              <a:t>、FinReport</a:t>
            </a:r>
            <a:r>
              <a:rPr lang="zh-CN" altLang="en-US" sz="1800"/>
              <a:t>（</a:t>
            </a:r>
            <a:r>
              <a:rPr lang="en-US" altLang="zh-CN" sz="1800"/>
              <a:t>WWW 2024</a:t>
            </a:r>
            <a:r>
              <a:rPr lang="zh-CN" altLang="en-US" sz="1800"/>
              <a:t>）</a:t>
            </a:r>
            <a:r>
              <a:rPr lang="en-US" altLang="zh-CN" sz="1800"/>
              <a:t> </a:t>
            </a:r>
            <a:r>
              <a:rPr lang="zh-CN" altLang="en-US" sz="1800"/>
              <a:t>等 </a:t>
            </a:r>
            <a:r>
              <a:rPr lang="en-US" altLang="zh-CN" sz="1800"/>
              <a:t>baseline</a:t>
            </a:r>
            <a:endParaRPr lang="en-US" altLang="zh-CN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526415" y="446405"/>
            <a:ext cx="10761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MMRepAgent: Explainable stock earnings forecasting via multimodal report agent framework</a:t>
            </a:r>
            <a:endParaRPr lang="en-US" altLang="zh-CN"/>
          </a:p>
          <a:p>
            <a:r>
              <a:rPr lang="en-US" altLang="zh-CN"/>
              <a:t>Knowledge-Based Systems 2026</a:t>
            </a:r>
            <a:endParaRPr lang="en-US" altLang="zh-CN"/>
          </a:p>
          <a:p>
            <a:r>
              <a:rPr lang="en-US" altLang="zh-CN"/>
              <a:t>South China University of Technology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7355" y="927100"/>
            <a:ext cx="3982085" cy="1975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0725" cy="1325880"/>
          </a:xfrm>
        </p:spPr>
        <p:txBody>
          <a:bodyPr>
            <a:normAutofit/>
          </a:bodyPr>
          <a:p>
            <a:r>
              <a:rPr lang="en-US" altLang="zh-CN" sz="2000"/>
              <a:t>Integrative stock price trend prediction via hierarchical LLM text processing and patch-based transformer with co-attention</a:t>
            </a:r>
            <a:br>
              <a:rPr lang="en-US" altLang="zh-CN" sz="2000"/>
            </a:br>
            <a:r>
              <a:rPr lang="en-US" altLang="zh-CN" sz="2000"/>
              <a:t>Expert Systems With Applications 2026</a:t>
            </a:r>
            <a:br>
              <a:rPr lang="en-US" altLang="zh-CN" sz="2000"/>
            </a:br>
            <a:r>
              <a:rPr lang="en-US" altLang="zh-CN" sz="2000"/>
              <a:t>Nanjing Normal University</a:t>
            </a:r>
            <a:endParaRPr lang="en-US" altLang="zh-CN" sz="2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1800"/>
              <a:t>解决问题：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长金融文本太冗余且超出 </a:t>
            </a:r>
            <a:r>
              <a:rPr lang="en-US" altLang="zh-CN" sz="1800"/>
              <a:t>LLM </a:t>
            </a:r>
            <a:r>
              <a:rPr lang="zh-CN" altLang="en-US" sz="1800"/>
              <a:t>输入限制；价格序列和文本序列都有时序结构，直接拼接会丢失局部/跨模态关系；单向 </a:t>
            </a:r>
            <a:r>
              <a:rPr lang="en-US" altLang="zh-CN" sz="1800"/>
              <a:t>attention </a:t>
            </a:r>
            <a:r>
              <a:rPr lang="zh-CN" altLang="en-US" sz="1800"/>
              <a:t>难以表达“新闻影响价格、价格反过来改变新闻解释”的双向依赖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创新点：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 </a:t>
            </a:r>
            <a:r>
              <a:rPr lang="zh-CN" altLang="en-US" sz="1800"/>
              <a:t>每个小时内的新闻由 </a:t>
            </a:r>
            <a:r>
              <a:rPr lang="en-US" altLang="zh-CN" sz="1800"/>
              <a:t>LLM </a:t>
            </a:r>
            <a:r>
              <a:rPr lang="zh-CN" altLang="en-US" sz="1800"/>
              <a:t>压缩成“小时摘要”。然后把一天内所有小时摘要按时间顺序拼接，再输入 </a:t>
            </a:r>
            <a:r>
              <a:rPr lang="en-US" altLang="zh-CN" sz="1800"/>
              <a:t>LLM </a:t>
            </a:r>
            <a:r>
              <a:rPr lang="zh-CN" altLang="en-US" sz="1800"/>
              <a:t>生成“日级摘要”。最后提取文本 </a:t>
            </a:r>
            <a:r>
              <a:rPr lang="en-US" altLang="zh-CN" sz="1800"/>
              <a:t>embedding。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- </a:t>
            </a:r>
            <a:r>
              <a:rPr lang="zh-CN" altLang="en-US" sz="1800"/>
              <a:t>把价格序列和文本-价格对齐后的序列切成重叠 </a:t>
            </a:r>
            <a:r>
              <a:rPr lang="en-US" altLang="zh-CN" sz="1800"/>
              <a:t>patch，</a:t>
            </a:r>
            <a:r>
              <a:rPr lang="zh-CN" altLang="en-US" sz="1800"/>
              <a:t>再用 </a:t>
            </a:r>
            <a:r>
              <a:rPr lang="en-US" altLang="zh-CN" sz="1800"/>
              <a:t>Transformer/self-attention </a:t>
            </a:r>
            <a:r>
              <a:rPr lang="zh-CN" altLang="en-US" sz="1800"/>
              <a:t>编码。类似 </a:t>
            </a:r>
            <a:r>
              <a:rPr lang="en-US" altLang="zh-CN" sz="1800"/>
              <a:t>PatchTST</a:t>
            </a:r>
            <a:r>
              <a:rPr lang="zh-CN" altLang="en-US" sz="1800"/>
              <a:t>（</a:t>
            </a:r>
            <a:r>
              <a:rPr lang="en-US" altLang="zh-CN" sz="1800"/>
              <a:t>2023</a:t>
            </a:r>
            <a:r>
              <a:rPr lang="zh-CN" altLang="en-US" sz="1800"/>
              <a:t>）</a:t>
            </a:r>
            <a:r>
              <a:rPr lang="en-US" altLang="zh-CN" sz="1800"/>
              <a:t> </a:t>
            </a:r>
            <a:r>
              <a:rPr lang="zh-CN" altLang="en-US" sz="1800"/>
              <a:t>的思想。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 </a:t>
            </a:r>
            <a:r>
              <a:rPr lang="zh-CN" altLang="en-US" sz="1800"/>
              <a:t>双向数据流</a:t>
            </a:r>
            <a:r>
              <a:rPr lang="en-US" altLang="zh-CN" sz="1800"/>
              <a:t>text→price、price→text </a:t>
            </a:r>
            <a:r>
              <a:rPr lang="zh-CN" altLang="en-US" sz="1800">
                <a:sym typeface="+mn-ea"/>
              </a:rPr>
              <a:t>用</a:t>
            </a:r>
            <a:r>
              <a:rPr lang="en-US" altLang="zh-CN" sz="1800"/>
              <a:t>co-attention</a:t>
            </a:r>
            <a:r>
              <a:rPr lang="zh-CN" altLang="en-US" sz="1800"/>
              <a:t>（受双向视觉-语言架构启发）</a:t>
            </a:r>
            <a:r>
              <a:rPr lang="en-US" altLang="zh-CN" sz="1800"/>
              <a:t> </a:t>
            </a:r>
            <a:r>
              <a:rPr lang="zh-CN" altLang="en-US" sz="1800"/>
              <a:t>融合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>
                <a:sym typeface="+mn-ea"/>
              </a:rPr>
              <a:t>表现优于</a:t>
            </a:r>
            <a:r>
              <a:rPr lang="en-US" altLang="zh-CN" sz="1800"/>
              <a:t>LLMFactor</a:t>
            </a:r>
            <a:r>
              <a:rPr lang="zh-CN" altLang="en-US" sz="1800"/>
              <a:t>（</a:t>
            </a:r>
            <a:r>
              <a:rPr lang="en-US" altLang="zh-CN" sz="1800"/>
              <a:t>2024acl</a:t>
            </a:r>
            <a:r>
              <a:rPr lang="zh-CN" altLang="en-US" sz="1800"/>
              <a:t>）等</a:t>
            </a:r>
            <a:r>
              <a:rPr lang="en-US" altLang="zh-CN" sz="1800"/>
              <a:t>baseline</a:t>
            </a:r>
            <a:endParaRPr lang="en-US" altLang="zh-CN" sz="1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1550" y="469900"/>
            <a:ext cx="2249805" cy="1355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2000"/>
              <a:t>TGNS: A transformer-based graph neural network for stock trend  forecasting</a:t>
            </a:r>
            <a:br>
              <a:rPr lang="en-US" altLang="zh-CN" sz="2000"/>
            </a:br>
            <a:r>
              <a:rPr lang="en-US" altLang="zh-CN" sz="2000"/>
              <a:t>Information Sciences 2025</a:t>
            </a:r>
            <a:br>
              <a:rPr lang="en-US" altLang="zh-CN" sz="2000"/>
            </a:br>
            <a:r>
              <a:rPr lang="zh-CN" altLang="en-US" sz="2000"/>
              <a:t>沈阳计算所</a:t>
            </a:r>
            <a:endParaRPr lang="zh-CN" altLang="en-US" sz="2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1800"/>
              <a:t>问题：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股票预测中忽略股票间关系的问题，静态概念图无法适应市场变化的问题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创新点：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- 结合 </a:t>
            </a:r>
            <a:r>
              <a:rPr lang="en-US" altLang="zh-CN" sz="1800"/>
              <a:t>Transformer </a:t>
            </a:r>
            <a:r>
              <a:rPr lang="zh-CN" altLang="en-US" sz="1800"/>
              <a:t>和图神经网络的股票趋势预测框架。它用 </a:t>
            </a:r>
            <a:r>
              <a:rPr lang="en-US" altLang="zh-CN" sz="1800"/>
              <a:t>CGA</a:t>
            </a:r>
            <a:r>
              <a:rPr lang="zh-CN" altLang="en-US" sz="1800"/>
              <a:t>（概念图注意力模块）</a:t>
            </a:r>
            <a:r>
              <a:rPr lang="en-US" altLang="zh-CN" sz="1800"/>
              <a:t> </a:t>
            </a:r>
            <a:r>
              <a:rPr lang="zh-CN" altLang="en-US" sz="1800"/>
              <a:t>建模动态概念关系，用 </a:t>
            </a:r>
            <a:r>
              <a:rPr lang="en-US" altLang="zh-CN" sz="1800"/>
              <a:t>SGA </a:t>
            </a:r>
            <a:r>
              <a:rPr lang="zh-CN" altLang="en-US" sz="1800"/>
              <a:t>（股票图注意力模块）建模股票间全局关系，并提出 </a:t>
            </a:r>
            <a:r>
              <a:rPr lang="en-US" altLang="zh-CN" sz="1800"/>
              <a:t>WRL </a:t>
            </a:r>
            <a:r>
              <a:rPr lang="zh-CN" altLang="en-US" sz="1800"/>
              <a:t>加权鲁棒损失来提升高收益股票预测能力。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首先用 </a:t>
            </a:r>
            <a:r>
              <a:rPr lang="en-US" altLang="zh-CN" sz="1800"/>
              <a:t>Transformer Encoder </a:t>
            </a:r>
            <a:r>
              <a:rPr lang="zh-CN" altLang="en-US" sz="1800"/>
              <a:t>编码股票历史量价序列；然后用 </a:t>
            </a:r>
            <a:r>
              <a:rPr lang="en-US" altLang="zh-CN" sz="1800"/>
              <a:t>CGA </a:t>
            </a:r>
            <a:r>
              <a:rPr lang="zh-CN" altLang="en-US" sz="1800"/>
              <a:t>捕捉行业、板块、概念内的动态关系；再用 </a:t>
            </a:r>
            <a:r>
              <a:rPr lang="en-US" altLang="zh-CN" sz="1800"/>
              <a:t>SGA </a:t>
            </a:r>
            <a:r>
              <a:rPr lang="zh-CN" altLang="en-US" sz="1800"/>
              <a:t>捕捉任意股票之间的全局交互；最后用 </a:t>
            </a:r>
            <a:r>
              <a:rPr lang="en-US" altLang="zh-CN" sz="1800"/>
              <a:t>WRL </a:t>
            </a:r>
            <a:r>
              <a:rPr lang="zh-CN" altLang="en-US" sz="1800"/>
              <a:t>损失函数增强模型对异常值的鲁棒性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在 </a:t>
            </a:r>
            <a:r>
              <a:rPr lang="en-US" altLang="zh-CN" sz="1800"/>
              <a:t>IC、RankIC、Precision@N </a:t>
            </a:r>
            <a:r>
              <a:rPr lang="zh-CN" altLang="en-US" sz="1800"/>
              <a:t>和累计收益上整体优于 </a:t>
            </a:r>
            <a:r>
              <a:rPr lang="en-US" altLang="zh-CN" sz="1800"/>
              <a:t>LR、MLP、LSTM、GRU、GATS、ALSTM、Transformer、HIST、MGAR、Informer、PatchTST </a:t>
            </a:r>
            <a:r>
              <a:rPr lang="zh-CN" altLang="en-US" sz="1800"/>
              <a:t>等模型</a:t>
            </a:r>
            <a:endParaRPr lang="zh-CN" altLang="en-US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1885" y="1098550"/>
            <a:ext cx="3342005" cy="19424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1832</Words>
  <Application>WPS 演示</Application>
  <PresentationFormat>宽屏</PresentationFormat>
  <Paragraphs>49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Arial Unicode MS</vt:lpstr>
      <vt:lpstr>Calibri</vt:lpstr>
      <vt:lpstr>微软雅黑</vt:lpstr>
      <vt:lpstr>Open Sans</vt:lpstr>
      <vt:lpstr>Segoe Print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李焯</dc:creator>
  <cp:lastModifiedBy>哲欣</cp:lastModifiedBy>
  <cp:revision>15</cp:revision>
  <dcterms:created xsi:type="dcterms:W3CDTF">2023-08-09T12:44:00Z</dcterms:created>
  <dcterms:modified xsi:type="dcterms:W3CDTF">2026-07-06T14:50:16Z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A0A7125DB81A44B99D8A1974663D85C6_12</vt:lpwstr>
  </property>
</Properties>
</file>