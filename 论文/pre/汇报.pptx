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0" r:id="rId6"/>
    <p:sldId id="259" r:id="rId7"/>
    <p:sldId id="258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79120" y="385445"/>
            <a:ext cx="11012170" cy="753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Financial news sentiment meets market data: A large language model-based approach to stock price prediction</a:t>
            </a:r>
            <a:endParaRPr lang="en-US" altLang="zh-CN"/>
          </a:p>
          <a:p>
            <a:r>
              <a:rPr lang="en-US" altLang="zh-CN"/>
              <a:t>Information Sciences 2026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79120" y="1976120"/>
            <a:ext cx="7472045" cy="44735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问题：</a:t>
            </a:r>
            <a:endParaRPr lang="zh-CN" altLang="en-US"/>
          </a:p>
          <a:p>
            <a:r>
              <a:rPr lang="zh-CN" altLang="en-US"/>
              <a:t>- 现有研究要么只用价格和经济指标，要么只研究情感与股价相关性，较少系统比较“</a:t>
            </a:r>
            <a:r>
              <a:rPr lang="en-US" altLang="zh-CN"/>
              <a:t>LLM </a:t>
            </a:r>
            <a:r>
              <a:rPr lang="zh-CN" altLang="en-US"/>
              <a:t>情感 + 技术指标 + 深度预测模型”的组合效果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创新点：</a:t>
            </a:r>
            <a:endParaRPr lang="en-US" altLang="zh-CN"/>
          </a:p>
          <a:p>
            <a:r>
              <a:rPr lang="zh-CN" altLang="en-US"/>
              <a:t>- 将通用开源 </a:t>
            </a:r>
            <a:r>
              <a:rPr lang="en-US" altLang="zh-CN"/>
              <a:t>LLM </a:t>
            </a:r>
            <a:r>
              <a:rPr lang="zh-CN" altLang="en-US"/>
              <a:t>的零样本金融情感抽取接入股票价格预测流程</a:t>
            </a:r>
            <a:endParaRPr lang="zh-CN" altLang="en-US"/>
          </a:p>
          <a:p>
            <a:r>
              <a:rPr lang="en-US" altLang="zh-CN"/>
              <a:t>-  LLM </a:t>
            </a:r>
            <a:r>
              <a:rPr lang="zh-CN" altLang="en-US"/>
              <a:t>提取情感分数，按日期聚合成情感特征后与技术指标/历史价格合并输入 </a:t>
            </a:r>
            <a:r>
              <a:rPr lang="en-US" altLang="zh-CN"/>
              <a:t>LSTM/GAN/Transformer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675" y="1031240"/>
            <a:ext cx="4741545" cy="2527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415" y="250634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zh-CN" altLang="en-US" sz="1800"/>
              <a:t>问题：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普通投资者很难同时理解量化指标和大量非结构化金融新闻；直接问 </a:t>
            </a:r>
            <a:r>
              <a:rPr lang="en-US" altLang="zh-CN" sz="1800"/>
              <a:t>LLM </a:t>
            </a:r>
            <a:r>
              <a:rPr lang="zh-CN" altLang="en-US" sz="1800"/>
              <a:t>又依赖用户会提专业问题</a:t>
            </a:r>
            <a:endParaRPr lang="zh-CN" altLang="en-US" sz="1800"/>
          </a:p>
          <a:p>
            <a:pPr marL="0" indent="0">
              <a:buNone/>
            </a:pPr>
            <a:endParaRPr lang="en-US" altLang="zh-CN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创新点：</a:t>
            </a:r>
            <a:endParaRPr lang="en-US" altLang="zh-CN" sz="1800"/>
          </a:p>
          <a:p>
            <a:pPr marL="0" indent="0">
              <a:buNone/>
            </a:pPr>
            <a:r>
              <a:rPr lang="zh-CN" altLang="en-US" sz="1800"/>
              <a:t>- 用一个多模态金融报告 </a:t>
            </a:r>
            <a:r>
              <a:rPr lang="en-US" altLang="zh-CN" sz="1800"/>
              <a:t>Agent，</a:t>
            </a:r>
            <a:r>
              <a:rPr lang="zh-CN" altLang="en-US" sz="1800"/>
              <a:t>把股票结构化因子、金融新闻语义事件、收益预测、风险评估和 </a:t>
            </a:r>
            <a:r>
              <a:rPr lang="en-US" altLang="zh-CN" sz="1800"/>
              <a:t>LLM </a:t>
            </a:r>
            <a:r>
              <a:rPr lang="zh-CN" altLang="en-US" sz="1800"/>
              <a:t>报告生成串成端到端系统，面向普通投资者输出可解释的投资分析报告。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 </a:t>
            </a:r>
            <a:r>
              <a:rPr lang="zh-CN" altLang="en-US" sz="1800"/>
              <a:t>用 </a:t>
            </a:r>
            <a:r>
              <a:rPr lang="en-US" altLang="zh-CN" sz="1800"/>
              <a:t>RoBERTa、SRL、SDPG </a:t>
            </a:r>
            <a:r>
              <a:rPr lang="zh-CN" altLang="en-US" sz="1800"/>
              <a:t>和图神经网络把新闻转成事件知识图谱和新闻影响因子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/>
              <a:t>在 </a:t>
            </a:r>
            <a:r>
              <a:rPr lang="en-US" altLang="zh-CN" sz="1800"/>
              <a:t>Fama-French 5 </a:t>
            </a:r>
            <a:r>
              <a:rPr lang="zh-CN" altLang="en-US" sz="1800"/>
              <a:t>因子模型中加入新闻影响因子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/>
              <a:t>在 </a:t>
            </a:r>
            <a:r>
              <a:rPr lang="en-US" altLang="zh-CN" sz="1800"/>
              <a:t>EGARCH/VaR，</a:t>
            </a:r>
            <a:r>
              <a:rPr lang="zh-CN" altLang="en-US" sz="1800"/>
              <a:t>把新闻事件冲击纳入波动率和尾部风险估计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-MMRepAgent </a:t>
            </a:r>
            <a:r>
              <a:rPr lang="zh-CN" altLang="en-US" sz="1800"/>
              <a:t>表现优于 </a:t>
            </a:r>
            <a:r>
              <a:rPr lang="en-US" altLang="zh-CN" sz="1800"/>
              <a:t>FinAgent</a:t>
            </a:r>
            <a:r>
              <a:rPr lang="zh-CN" altLang="en-US" sz="1800"/>
              <a:t>（</a:t>
            </a:r>
            <a:r>
              <a:rPr lang="en-US" altLang="zh-CN" sz="1800"/>
              <a:t>KDD 2024</a:t>
            </a:r>
            <a:r>
              <a:rPr lang="zh-CN" altLang="en-US" sz="1800"/>
              <a:t>）</a:t>
            </a:r>
            <a:r>
              <a:rPr lang="en-US" altLang="zh-CN" sz="1800"/>
              <a:t>、FinReport</a:t>
            </a:r>
            <a:r>
              <a:rPr lang="zh-CN" altLang="en-US" sz="1800"/>
              <a:t>（</a:t>
            </a:r>
            <a:r>
              <a:rPr lang="en-US" altLang="zh-CN" sz="1800"/>
              <a:t>WWW 2024</a:t>
            </a:r>
            <a:r>
              <a:rPr lang="zh-CN" altLang="en-US" sz="1800"/>
              <a:t>）</a:t>
            </a:r>
            <a:r>
              <a:rPr lang="en-US" altLang="zh-CN" sz="1800"/>
              <a:t> </a:t>
            </a:r>
            <a:r>
              <a:rPr lang="zh-CN" altLang="en-US" sz="1800"/>
              <a:t>等 </a:t>
            </a:r>
            <a:r>
              <a:rPr lang="en-US" altLang="zh-CN" sz="1800"/>
              <a:t>baseline</a:t>
            </a:r>
            <a:endParaRPr lang="en-US" altLang="zh-CN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</p:txBody>
      </p:sp>
      <p:sp>
        <p:nvSpPr>
          <p:cNvPr id="6" name="文本框 5"/>
          <p:cNvSpPr txBox="1"/>
          <p:nvPr/>
        </p:nvSpPr>
        <p:spPr>
          <a:xfrm>
            <a:off x="526415" y="446405"/>
            <a:ext cx="107619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MMRepAgent: Explainable stock earnings forecasting via multimodal report agent framework</a:t>
            </a:r>
            <a:endParaRPr lang="en-US" altLang="zh-CN"/>
          </a:p>
          <a:p>
            <a:r>
              <a:rPr lang="en-US" altLang="zh-CN"/>
              <a:t>Knowledge-Based Systems 2026</a:t>
            </a:r>
            <a:endParaRPr lang="en-US" altLang="zh-CN"/>
          </a:p>
          <a:p>
            <a:r>
              <a:rPr lang="en-US" altLang="zh-CN"/>
              <a:t>South China University of Technology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9690" y="927100"/>
            <a:ext cx="6889750" cy="34182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80725" cy="1325880"/>
          </a:xfrm>
        </p:spPr>
        <p:txBody>
          <a:bodyPr>
            <a:normAutofit/>
          </a:bodyPr>
          <a:p>
            <a:r>
              <a:rPr lang="en-US" altLang="zh-CN" sz="2000"/>
              <a:t>Integrative stock price trend prediction via hierarchical LLM text processing and patch-based transformer with co-attention</a:t>
            </a:r>
            <a:br>
              <a:rPr lang="en-US" altLang="zh-CN" sz="2000"/>
            </a:br>
            <a:r>
              <a:rPr lang="en-US" altLang="zh-CN" sz="2000"/>
              <a:t>Expert Systems With Applications 2026</a:t>
            </a:r>
            <a:br>
              <a:rPr lang="en-US" altLang="zh-CN" sz="2000"/>
            </a:br>
            <a:r>
              <a:rPr lang="en-US" altLang="zh-CN" sz="2000"/>
              <a:t>Nanjing Normal University</a:t>
            </a:r>
            <a:endParaRPr lang="en-US" altLang="zh-CN" sz="2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1800"/>
              <a:t>问题：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长金融文本太冗余且超出 </a:t>
            </a:r>
            <a:r>
              <a:rPr lang="en-US" altLang="zh-CN" sz="1800"/>
              <a:t>LLM </a:t>
            </a:r>
            <a:r>
              <a:rPr lang="zh-CN" altLang="en-US" sz="1800"/>
              <a:t>输入限制；价格序列和文本序列都有时序结构，直接拼接会丢失局部/跨模态关系；单向 </a:t>
            </a:r>
            <a:r>
              <a:rPr lang="en-US" altLang="zh-CN" sz="1800"/>
              <a:t>attention </a:t>
            </a:r>
            <a:r>
              <a:rPr lang="zh-CN" altLang="en-US" sz="1800"/>
              <a:t>难以表达“新闻影响价格、价格反过来改变新闻解释”的双向依赖</a:t>
            </a: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创新点：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 </a:t>
            </a:r>
            <a:r>
              <a:rPr lang="zh-CN" altLang="en-US" sz="1800"/>
              <a:t>每个小时内的新闻由 </a:t>
            </a:r>
            <a:r>
              <a:rPr lang="en-US" altLang="zh-CN" sz="1800"/>
              <a:t>LLM </a:t>
            </a:r>
            <a:r>
              <a:rPr lang="zh-CN" altLang="en-US" sz="1800"/>
              <a:t>压缩成“小时摘要”。然后把一天内所有小时摘要按时间顺序拼接，再输入 </a:t>
            </a:r>
            <a:r>
              <a:rPr lang="en-US" altLang="zh-CN" sz="1800"/>
              <a:t>LLM </a:t>
            </a:r>
            <a:r>
              <a:rPr lang="zh-CN" altLang="en-US" sz="1800"/>
              <a:t>生成“日级摘要”。最后提取文本 </a:t>
            </a:r>
            <a:r>
              <a:rPr lang="en-US" altLang="zh-CN" sz="1800"/>
              <a:t>embedding。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- </a:t>
            </a:r>
            <a:r>
              <a:rPr lang="zh-CN" altLang="en-US" sz="1800"/>
              <a:t>把价格序列和文本-价格对齐后的序列切成重叠 </a:t>
            </a:r>
            <a:r>
              <a:rPr lang="en-US" altLang="zh-CN" sz="1800"/>
              <a:t>patch，</a:t>
            </a:r>
            <a:r>
              <a:rPr lang="zh-CN" altLang="en-US" sz="1800"/>
              <a:t>再用 </a:t>
            </a:r>
            <a:r>
              <a:rPr lang="en-US" altLang="zh-CN" sz="1800"/>
              <a:t>Transformer/self-attention </a:t>
            </a:r>
            <a:r>
              <a:rPr lang="zh-CN" altLang="en-US" sz="1800"/>
              <a:t>编码。类似 </a:t>
            </a:r>
            <a:r>
              <a:rPr lang="en-US" altLang="zh-CN" sz="1800"/>
              <a:t>PatchTST</a:t>
            </a:r>
            <a:r>
              <a:rPr lang="zh-CN" altLang="en-US" sz="1800"/>
              <a:t>（</a:t>
            </a:r>
            <a:r>
              <a:rPr lang="en-US" altLang="zh-CN" sz="1800"/>
              <a:t>2023</a:t>
            </a:r>
            <a:r>
              <a:rPr lang="zh-CN" altLang="en-US" sz="1800"/>
              <a:t>）</a:t>
            </a:r>
            <a:r>
              <a:rPr lang="en-US" altLang="zh-CN" sz="1800"/>
              <a:t> </a:t>
            </a:r>
            <a:r>
              <a:rPr lang="zh-CN" altLang="en-US" sz="1800"/>
              <a:t>的思想。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 </a:t>
            </a:r>
            <a:r>
              <a:rPr lang="zh-CN" altLang="en-US" sz="1800"/>
              <a:t>双向数据流</a:t>
            </a:r>
            <a:r>
              <a:rPr lang="en-US" altLang="zh-CN" sz="1800"/>
              <a:t>text→price、price→text </a:t>
            </a:r>
            <a:r>
              <a:rPr lang="zh-CN" altLang="en-US" sz="1800">
                <a:sym typeface="+mn-ea"/>
              </a:rPr>
              <a:t>用</a:t>
            </a:r>
            <a:r>
              <a:rPr lang="en-US" altLang="zh-CN" sz="1800"/>
              <a:t>co-attention</a:t>
            </a:r>
            <a:r>
              <a:rPr lang="zh-CN" altLang="en-US" sz="1800"/>
              <a:t>（受双向视觉-语言架构启发）</a:t>
            </a:r>
            <a:r>
              <a:rPr lang="en-US" altLang="zh-CN" sz="1800"/>
              <a:t> </a:t>
            </a:r>
            <a:r>
              <a:rPr lang="zh-CN" altLang="en-US" sz="1800"/>
              <a:t>融合</a:t>
            </a: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>
                <a:sym typeface="+mn-ea"/>
              </a:rPr>
              <a:t>表现优于</a:t>
            </a:r>
            <a:r>
              <a:rPr lang="en-US" altLang="zh-CN" sz="1800"/>
              <a:t>LLMFactor</a:t>
            </a:r>
            <a:r>
              <a:rPr lang="zh-CN" altLang="en-US" sz="1800"/>
              <a:t>（</a:t>
            </a:r>
            <a:r>
              <a:rPr lang="en-US" altLang="zh-CN" sz="1800"/>
              <a:t>2024acl</a:t>
            </a:r>
            <a:r>
              <a:rPr lang="zh-CN" altLang="en-US" sz="1800"/>
              <a:t>）等</a:t>
            </a:r>
            <a:r>
              <a:rPr lang="en-US" altLang="zh-CN" sz="1800"/>
              <a:t>baseline</a:t>
            </a:r>
            <a:endParaRPr lang="en-US" altLang="zh-CN" sz="1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0565" y="469900"/>
            <a:ext cx="5050790" cy="30435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2000"/>
              <a:t>TGNS: A transformer-based graph neural network for stock trend  forecasting</a:t>
            </a:r>
            <a:br>
              <a:rPr lang="en-US" altLang="zh-CN" sz="2000"/>
            </a:br>
            <a:r>
              <a:rPr lang="en-US" altLang="zh-CN" sz="2000"/>
              <a:t>Information Sciences 2025</a:t>
            </a:r>
            <a:br>
              <a:rPr lang="en-US" altLang="zh-CN" sz="2000"/>
            </a:br>
            <a:r>
              <a:rPr lang="zh-CN" altLang="en-US" sz="2000"/>
              <a:t>沈阳计算所</a:t>
            </a:r>
            <a:endParaRPr lang="zh-CN" altLang="en-US" sz="2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 sz="1800"/>
              <a:t>问题：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股票预测中忽略股票间关系的问题，静态概念图无法适应市场变化的问题</a:t>
            </a: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创新点：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- 结合 </a:t>
            </a:r>
            <a:r>
              <a:rPr lang="en-US" altLang="zh-CN" sz="1800"/>
              <a:t>Transformer </a:t>
            </a:r>
            <a:r>
              <a:rPr lang="zh-CN" altLang="en-US" sz="1800"/>
              <a:t>和图神经网络的股票趋势预测框架。它用 </a:t>
            </a:r>
            <a:r>
              <a:rPr lang="en-US" altLang="zh-CN" sz="1800"/>
              <a:t>CGA</a:t>
            </a:r>
            <a:r>
              <a:rPr lang="zh-CN" altLang="en-US" sz="1800"/>
              <a:t>（概念图注意力模块）</a:t>
            </a:r>
            <a:r>
              <a:rPr lang="en-US" altLang="zh-CN" sz="1800"/>
              <a:t> </a:t>
            </a:r>
            <a:r>
              <a:rPr lang="zh-CN" altLang="en-US" sz="1800"/>
              <a:t>建模动态概念关系，用 </a:t>
            </a:r>
            <a:r>
              <a:rPr lang="en-US" altLang="zh-CN" sz="1800"/>
              <a:t>SGA </a:t>
            </a:r>
            <a:r>
              <a:rPr lang="zh-CN" altLang="en-US" sz="1800"/>
              <a:t>（股票图注意力模块）建模股票间全局关系，并提出 </a:t>
            </a:r>
            <a:r>
              <a:rPr lang="en-US" altLang="zh-CN" sz="1800"/>
              <a:t>WRL </a:t>
            </a:r>
            <a:r>
              <a:rPr lang="zh-CN" altLang="en-US" sz="1800"/>
              <a:t>加权鲁棒损失来提升高收益股票预测能力。</a:t>
            </a: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/>
              <a:t>首先用 </a:t>
            </a:r>
            <a:r>
              <a:rPr lang="en-US" altLang="zh-CN" sz="1800"/>
              <a:t>Transformer Encoder </a:t>
            </a:r>
            <a:r>
              <a:rPr lang="zh-CN" altLang="en-US" sz="1800"/>
              <a:t>编码股票历史量价序列；然后用 </a:t>
            </a:r>
            <a:r>
              <a:rPr lang="en-US" altLang="zh-CN" sz="1800"/>
              <a:t>CGA </a:t>
            </a:r>
            <a:r>
              <a:rPr lang="zh-CN" altLang="en-US" sz="1800"/>
              <a:t>捕捉行业、板块、概念内的动态关系；再用 </a:t>
            </a:r>
            <a:r>
              <a:rPr lang="en-US" altLang="zh-CN" sz="1800"/>
              <a:t>SGA </a:t>
            </a:r>
            <a:r>
              <a:rPr lang="zh-CN" altLang="en-US" sz="1800"/>
              <a:t>捕捉任意股票之间的全局交互；最后用 </a:t>
            </a:r>
            <a:r>
              <a:rPr lang="en-US" altLang="zh-CN" sz="1800"/>
              <a:t>WRL </a:t>
            </a:r>
            <a:r>
              <a:rPr lang="zh-CN" altLang="en-US" sz="1800"/>
              <a:t>损失函数增强模型对异常值的鲁棒性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/>
              <a:t>在 </a:t>
            </a:r>
            <a:r>
              <a:rPr lang="en-US" altLang="zh-CN" sz="1800"/>
              <a:t>IC、RankIC、Precision@N </a:t>
            </a:r>
            <a:r>
              <a:rPr lang="zh-CN" altLang="en-US" sz="1800"/>
              <a:t>和累计收益上整体优于 </a:t>
            </a:r>
            <a:r>
              <a:rPr lang="en-US" altLang="zh-CN" sz="1800"/>
              <a:t>LR、MLP、LSTM、GRU、GATS、ALSTM、Transformer、HIST、MGAR、Informer、PatchTST </a:t>
            </a:r>
            <a:r>
              <a:rPr lang="zh-CN" altLang="en-US" sz="1800"/>
              <a:t>等模型</a:t>
            </a:r>
            <a:endParaRPr lang="zh-CN" altLang="en-US" sz="1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3815" y="1098550"/>
            <a:ext cx="4410075" cy="25634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365125"/>
            <a:ext cx="10515600" cy="1325563"/>
          </a:xfrm>
        </p:spPr>
        <p:txBody>
          <a:bodyPr>
            <a:normAutofit/>
          </a:bodyPr>
          <a:p>
            <a:r>
              <a:rPr lang="en-US" altLang="zh-CN" sz="2220"/>
              <a:t>Kronos: A Foundation Model for the Language of Financial Markets</a:t>
            </a:r>
            <a:br>
              <a:rPr lang="en-US" altLang="zh-CN" sz="2220"/>
            </a:br>
            <a:r>
              <a:rPr lang="zh-CN" altLang="en-US" sz="2220"/>
              <a:t>清华</a:t>
            </a:r>
            <a:endParaRPr lang="zh-CN" altLang="en-US" sz="222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7850" y="1816735"/>
            <a:ext cx="9834245" cy="435165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1800"/>
              <a:t>问题：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通用时序基础模型在金融 </a:t>
            </a:r>
            <a:r>
              <a:rPr lang="en-US" altLang="zh-CN" sz="1800"/>
              <a:t>K </a:t>
            </a:r>
            <a:r>
              <a:rPr lang="zh-CN" altLang="en-US" sz="1800"/>
              <a:t>线任务上常不如专用的非预训练模型。</a:t>
            </a: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创新</a:t>
            </a:r>
            <a:r>
              <a:rPr lang="zh-CN" altLang="en-US" sz="1800"/>
              <a:t>点：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提出了面向金融 </a:t>
            </a:r>
            <a:r>
              <a:rPr lang="en-US" altLang="zh-CN" sz="1800"/>
              <a:t>K </a:t>
            </a:r>
            <a:r>
              <a:rPr lang="zh-CN" altLang="en-US" sz="1800"/>
              <a:t>线数据的时序基础模型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/>
              <a:t>把每根 </a:t>
            </a:r>
            <a:r>
              <a:rPr lang="en-US" altLang="zh-CN" sz="1800"/>
              <a:t>K </a:t>
            </a:r>
            <a:r>
              <a:rPr lang="zh-CN" altLang="en-US" sz="1800"/>
              <a:t>线映射为离散 </a:t>
            </a:r>
            <a:r>
              <a:rPr lang="en-US" altLang="zh-CN" sz="1800"/>
              <a:t>token，</a:t>
            </a:r>
            <a:r>
              <a:rPr lang="zh-CN" altLang="en-US" sz="1800"/>
              <a:t>之后把预测问题转为“根据历史 </a:t>
            </a:r>
            <a:r>
              <a:rPr lang="en-US" altLang="zh-CN" sz="1800"/>
              <a:t>token </a:t>
            </a:r>
            <a:r>
              <a:rPr lang="zh-CN" altLang="en-US" sz="1800"/>
              <a:t>自回归预测未来 </a:t>
            </a:r>
            <a:r>
              <a:rPr lang="en-US" altLang="zh-CN" sz="1800"/>
              <a:t>token”</a:t>
            </a:r>
            <a:r>
              <a:rPr lang="zh-CN" altLang="en-US" sz="1800"/>
              <a:t>的生成问题。这使预测、波动率估计和合成数据生成可统一在同一框架内。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/>
              <a:t>使用 </a:t>
            </a:r>
            <a:r>
              <a:rPr lang="en-US" altLang="zh-CN" sz="1800"/>
              <a:t>Transformer </a:t>
            </a:r>
            <a:r>
              <a:rPr lang="zh-CN" altLang="en-US" sz="1800"/>
              <a:t>自编码器与 </a:t>
            </a:r>
            <a:r>
              <a:rPr lang="en-US" altLang="zh-CN" sz="1800"/>
              <a:t>Binary Spherical Quantization（BSQ），</a:t>
            </a:r>
            <a:r>
              <a:rPr lang="zh-CN" altLang="en-US" sz="1800"/>
              <a:t>将连续 </a:t>
            </a:r>
            <a:r>
              <a:rPr lang="en-US" altLang="zh-CN" sz="1800"/>
              <a:t>K </a:t>
            </a:r>
            <a:r>
              <a:rPr lang="zh-CN" altLang="en-US" sz="1800"/>
              <a:t>线压缩成二进制离散码并差分为粗</a:t>
            </a:r>
            <a:r>
              <a:rPr lang="en-US" altLang="zh-CN" sz="1800"/>
              <a:t>token</a:t>
            </a:r>
            <a:r>
              <a:rPr lang="zh-CN" altLang="en-US" sz="1800"/>
              <a:t>和细</a:t>
            </a:r>
            <a:r>
              <a:rPr lang="en-US" altLang="zh-CN" sz="1800"/>
              <a:t>token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/>
              <a:t>像语言模型一样预测未来 </a:t>
            </a:r>
            <a:r>
              <a:rPr lang="en-US" altLang="zh-CN" sz="1800"/>
              <a:t>token，</a:t>
            </a:r>
            <a:r>
              <a:rPr lang="zh-CN" altLang="en-US" sz="1800"/>
              <a:t>用 </a:t>
            </a:r>
            <a:r>
              <a:rPr lang="en-US" altLang="zh-CN" sz="1800"/>
              <a:t>decoder-only Transformer </a:t>
            </a:r>
            <a:r>
              <a:rPr lang="zh-CN" altLang="en-US" sz="1800"/>
              <a:t>建模 </a:t>
            </a:r>
            <a:r>
              <a:rPr lang="en-US" altLang="zh-CN" sz="1800"/>
              <a:t>token </a:t>
            </a:r>
            <a:r>
              <a:rPr lang="zh-CN" altLang="en-US" sz="1800"/>
              <a:t>序列。每一步先预测粗 </a:t>
            </a:r>
            <a:r>
              <a:rPr lang="en-US" altLang="zh-CN" sz="1800"/>
              <a:t>token，</a:t>
            </a:r>
            <a:r>
              <a:rPr lang="zh-CN" altLang="en-US" sz="1800"/>
              <a:t>再在粗 </a:t>
            </a:r>
            <a:r>
              <a:rPr lang="en-US" altLang="zh-CN" sz="1800"/>
              <a:t>token </a:t>
            </a:r>
            <a:r>
              <a:rPr lang="zh-CN" altLang="en-US" sz="1800"/>
              <a:t>和历史上下文条件下预测细 </a:t>
            </a:r>
            <a:r>
              <a:rPr lang="en-US" altLang="zh-CN" sz="1800"/>
              <a:t>token。</a:t>
            </a:r>
            <a:endParaRPr lang="en-US" altLang="zh-CN" sz="1800"/>
          </a:p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/>
              <a:t>价格预测的 </a:t>
            </a:r>
            <a:r>
              <a:rPr lang="en-US" altLang="zh-CN" sz="1800"/>
              <a:t>RankIC：</a:t>
            </a:r>
            <a:r>
              <a:rPr lang="zh-CN" altLang="en-US" sz="1800"/>
              <a:t>相对最强 </a:t>
            </a:r>
            <a:r>
              <a:rPr lang="en-US" altLang="zh-CN" sz="1800"/>
              <a:t>TSFM </a:t>
            </a:r>
            <a:r>
              <a:rPr lang="zh-CN" altLang="en-US" sz="1800"/>
              <a:t>提升 93%，相对最佳非预训练模型提升 87%，其余指标也大幅提升</a:t>
            </a:r>
            <a:endParaRPr lang="zh-CN" altLang="en-US" sz="1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125" y="1084580"/>
            <a:ext cx="4719320" cy="22339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2220"/>
              <a:t>FinRpt: Dataset, Evaluation System and LLM-based Multi-agent Framework for Equity Research Report Generation </a:t>
            </a:r>
            <a:r>
              <a:rPr lang="zh-CN" altLang="en-US" sz="2220"/>
              <a:t>人大</a:t>
            </a:r>
            <a:endParaRPr lang="zh-CN" altLang="en-US" sz="222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09725"/>
            <a:ext cx="7976870" cy="4351655"/>
          </a:xfrm>
        </p:spPr>
        <p:txBody>
          <a:bodyPr/>
          <a:p>
            <a:pPr marL="0" indent="0">
              <a:buNone/>
            </a:pPr>
            <a:r>
              <a:rPr lang="zh-CN" altLang="en-US" sz="1800"/>
              <a:t>问题：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过去金融 </a:t>
            </a:r>
            <a:r>
              <a:rPr lang="en-US" altLang="zh-CN" sz="1800"/>
              <a:t>LLM </a:t>
            </a:r>
            <a:r>
              <a:rPr lang="zh-CN" altLang="en-US" sz="1800"/>
              <a:t>主要做情感分析、问答、信息抽取或交易决策，缺少对“输入什么数据、输出怎样的完整研报”的统一定义。</a:t>
            </a: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创新</a:t>
            </a:r>
            <a:r>
              <a:rPr lang="zh-CN" altLang="en-US" sz="1800"/>
              <a:t>点：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/>
              <a:t>形式化 </a:t>
            </a:r>
            <a:r>
              <a:rPr lang="en-US" altLang="zh-CN" sz="1800"/>
              <a:t>ERR</a:t>
            </a:r>
            <a:r>
              <a:rPr lang="en-US" altLang="zh-CN" sz="1800">
                <a:sym typeface="+mn-ea"/>
              </a:rPr>
              <a:t>（</a:t>
            </a:r>
            <a:r>
              <a:rPr lang="zh-CN" altLang="en-US" sz="1800">
                <a:sym typeface="+mn-ea"/>
              </a:rPr>
              <a:t>股权研究报告）</a:t>
            </a:r>
            <a:r>
              <a:rPr lang="en-US" altLang="zh-CN" sz="1800"/>
              <a:t> </a:t>
            </a:r>
            <a:r>
              <a:rPr lang="zh-CN" altLang="en-US" sz="1800"/>
              <a:t>生成任务，围绕某只股票在某一分析日收集六类信息，公告、新闻会先由 </a:t>
            </a:r>
            <a:r>
              <a:rPr lang="en-US" altLang="zh-CN" sz="1800"/>
              <a:t>LLM </a:t>
            </a:r>
            <a:r>
              <a:rPr lang="zh-CN" altLang="en-US" sz="1800"/>
              <a:t>处理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/>
              <a:t>将上述多源数据送入 </a:t>
            </a:r>
            <a:r>
              <a:rPr lang="en-US" altLang="zh-CN" sz="1800"/>
              <a:t>FinRpt-Gen，</a:t>
            </a:r>
            <a:r>
              <a:rPr lang="zh-CN" altLang="en-US" sz="1800"/>
              <a:t>由 </a:t>
            </a:r>
            <a:r>
              <a:rPr lang="en-US" altLang="zh-CN" sz="1800"/>
              <a:t>GPT-4o </a:t>
            </a:r>
            <a:r>
              <a:rPr lang="zh-CN" altLang="en-US" sz="1800"/>
              <a:t>驱动的多智能体系统先生成 </a:t>
            </a:r>
            <a:r>
              <a:rPr lang="en-US" altLang="zh-CN" sz="1800"/>
              <a:t>ERR</a:t>
            </a:r>
            <a:r>
              <a:rPr lang="zh-CN" altLang="en-US" sz="1800"/>
              <a:t>草稿。并经过步数据增强，最终得到可用于训练、验证和评测的 </a:t>
            </a:r>
            <a:r>
              <a:rPr lang="en-US" altLang="zh-CN" sz="1800"/>
              <a:t>FinRpt </a:t>
            </a:r>
            <a:r>
              <a:rPr lang="zh-CN" altLang="en-US" sz="1800"/>
              <a:t>数据集。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-FinRpt-Gen </a:t>
            </a:r>
            <a:r>
              <a:rPr lang="zh-CN" altLang="en-US" sz="1800"/>
              <a:t>由 3 个模块、9 个智能体组成，对 财务分析、新闻分析、状态分析、预测 这 4 个关键智能体进行 </a:t>
            </a:r>
            <a:r>
              <a:rPr lang="en-US" altLang="zh-CN" sz="1800"/>
              <a:t>LoRA </a:t>
            </a:r>
            <a:r>
              <a:rPr lang="zh-CN" altLang="en-US" sz="1800"/>
              <a:t>监督微调（</a:t>
            </a:r>
            <a:r>
              <a:rPr lang="en-US" altLang="zh-CN" sz="1800"/>
              <a:t>SFT）。</a:t>
            </a:r>
            <a:r>
              <a:rPr lang="zh-CN" altLang="en-US" sz="1800"/>
              <a:t>再对 预测智能体 进行 </a:t>
            </a:r>
            <a:r>
              <a:rPr lang="en-US" altLang="zh-CN" sz="1800"/>
              <a:t>DAPO </a:t>
            </a:r>
            <a:r>
              <a:rPr lang="zh-CN" altLang="en-US" sz="1800"/>
              <a:t>强化学习（</a:t>
            </a:r>
            <a:r>
              <a:rPr lang="en-US" altLang="zh-CN" sz="1800"/>
              <a:t>RL）</a:t>
            </a:r>
            <a:r>
              <a:rPr lang="zh-CN" altLang="en-US" sz="1800"/>
              <a:t>进行优化。</a:t>
            </a:r>
            <a:endParaRPr lang="zh-CN" altLang="en-US" sz="1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8665" y="1065530"/>
            <a:ext cx="5093335" cy="22694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2220"/>
              <a:t>TermGPT: Multi-Level Contrastive Fine-Tuning for Terminology Adaptation in Legal and Financial Domains </a:t>
            </a:r>
            <a:r>
              <a:rPr lang="zh-CN" altLang="en-US" sz="2220"/>
              <a:t>浙大</a:t>
            </a:r>
            <a:endParaRPr lang="zh-CN" altLang="en-US" sz="222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49070"/>
            <a:ext cx="8793480" cy="5148580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 sz="1800"/>
              <a:t>问题：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法律、金融等高风险领域中，</a:t>
            </a:r>
            <a:r>
              <a:rPr lang="en-US" altLang="zh-CN" sz="1800"/>
              <a:t>LLM </a:t>
            </a:r>
            <a:r>
              <a:rPr lang="zh-CN" altLang="en-US" sz="1800"/>
              <a:t>容易混淆语义相近但业务含义不同的专业术语。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现有 </a:t>
            </a:r>
            <a:r>
              <a:rPr lang="en-US" altLang="zh-CN" sz="1800"/>
              <a:t>LLM </a:t>
            </a:r>
            <a:r>
              <a:rPr lang="zh-CN" altLang="en-US" sz="1800"/>
              <a:t>的嵌入空间存在“各向同性”问题，术语向量区分度不足。术语适配面临三项困难：监督信号高度依赖上下文、术语在语料中极稀疏、全局上下文与局部术语语义难以兼顾。</a:t>
            </a: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创新点：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提出术语感知微调任务和 </a:t>
            </a:r>
            <a:r>
              <a:rPr lang="en-US" altLang="zh-CN" sz="1800"/>
              <a:t>TermGPT </a:t>
            </a:r>
            <a:r>
              <a:rPr lang="zh-CN" altLang="en-US" sz="1800"/>
              <a:t>框架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/>
              <a:t>句子级对比学习擅长建模整体语义，但会稀释术语的细粒度差异。词元级对比学习能强化术语区分，却容易缺少上下文和句间依赖。因而需要将两种粒度结合。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-TermGPT </a:t>
            </a:r>
            <a:r>
              <a:rPr lang="zh-CN" altLang="en-US" sz="1800"/>
              <a:t>分为两阶段：基于句子图的数据增强，以及句子级 + </a:t>
            </a:r>
            <a:r>
              <a:rPr lang="en-US" altLang="zh-CN" sz="1800">
                <a:sym typeface="+mn-ea"/>
              </a:rPr>
              <a:t>token</a:t>
            </a:r>
            <a:r>
              <a:rPr lang="zh-CN" altLang="en-US" sz="1800"/>
              <a:t>级的多层对比学习。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句子级子图的作用是：找</a:t>
            </a:r>
            <a:r>
              <a:rPr lang="zh-CN" altLang="en-US" sz="1800"/>
              <a:t>出整句话意思接近、但规则结论不同的句子，并用它们训练模型理解上下文。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token</a:t>
            </a:r>
            <a:r>
              <a:rPr lang="zh-CN" altLang="en-US" sz="1800"/>
              <a:t>级子图专门处理：两个术语很像，但其实不能混用的问题。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/>
              <a:t>先做 </a:t>
            </a:r>
            <a:r>
              <a:rPr lang="en-US" altLang="zh-CN" sz="1800"/>
              <a:t>SFT，</a:t>
            </a:r>
            <a:r>
              <a:rPr lang="zh-CN" altLang="en-US" sz="1800"/>
              <a:t>先对 </a:t>
            </a:r>
            <a:r>
              <a:rPr lang="en-US" altLang="zh-CN" sz="1800"/>
              <a:t>Q_sen </a:t>
            </a:r>
            <a:r>
              <a:rPr lang="zh-CN" altLang="en-US" sz="1800"/>
              <a:t>与 </a:t>
            </a:r>
            <a:r>
              <a:rPr lang="en-US" altLang="zh-CN" sz="1800"/>
              <a:t>Q_tok </a:t>
            </a:r>
            <a:r>
              <a:rPr lang="zh-CN" altLang="en-US" sz="1800"/>
              <a:t>统一进行监督微调然后进行两种对比</a:t>
            </a:r>
            <a:r>
              <a:rPr lang="zh-CN" altLang="en-US" sz="1800"/>
              <a:t>学习</a:t>
            </a:r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8960" y="1333500"/>
            <a:ext cx="5273040" cy="22180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sz="2220"/>
              <a:t>FinMMDocR: Benchmarking Financial Multimodal Reasoning with</a:t>
            </a:r>
            <a:br>
              <a:rPr lang="en-US" altLang="zh-CN" sz="2220"/>
            </a:br>
            <a:r>
              <a:rPr lang="en-US" altLang="zh-CN" sz="2220"/>
              <a:t>Scenario Awareness, Document Understanding, and Multi-Step Computation</a:t>
            </a:r>
            <a:br>
              <a:rPr lang="en-US" altLang="zh-CN" sz="2220"/>
            </a:br>
            <a:r>
              <a:rPr lang="zh-CN" altLang="en-US" sz="2220"/>
              <a:t>北邮</a:t>
            </a:r>
            <a:r>
              <a:rPr lang="en-US" altLang="zh-CN" sz="2220"/>
              <a:t> </a:t>
            </a:r>
            <a:endParaRPr lang="en-US" altLang="zh-CN" sz="222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1075"/>
          </a:xfrm>
        </p:spPr>
        <p:txBody>
          <a:bodyPr/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/>
              <a:t>相关研究分为三类：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金融数值推理基准，如 </a:t>
            </a:r>
            <a:r>
              <a:rPr lang="en-US" altLang="zh-CN" sz="1800"/>
              <a:t>FinQA、TAT-QA、FinanceMath；</a:t>
            </a:r>
            <a:r>
              <a:rPr lang="zh-CN" altLang="en-US" sz="1800"/>
              <a:t> </a:t>
            </a:r>
            <a:endParaRPr lang="zh-CN" altLang="en-US" sz="1800"/>
          </a:p>
          <a:p>
            <a:pPr marL="0" indent="0">
              <a:buNone/>
            </a:pPr>
            <a:r>
              <a:rPr lang="zh-CN" altLang="en-US" sz="1800"/>
              <a:t>金融多模态基准，如 </a:t>
            </a:r>
            <a:r>
              <a:rPr lang="en-US" altLang="zh-CN" sz="1800"/>
              <a:t>FinMMR、FinMME、MME-Finance；</a:t>
            </a:r>
            <a:endParaRPr lang="en-US" altLang="zh-CN" sz="1800"/>
          </a:p>
          <a:p>
            <a:pPr marL="0" indent="0">
              <a:buNone/>
            </a:pPr>
            <a:r>
              <a:rPr lang="zh-CN" altLang="en-US" sz="1800"/>
              <a:t>长文档多模态理解与 </a:t>
            </a:r>
            <a:r>
              <a:rPr lang="en-US" altLang="zh-CN" sz="1800"/>
              <a:t>RAG，</a:t>
            </a:r>
            <a:r>
              <a:rPr lang="zh-CN" altLang="en-US" sz="1800"/>
              <a:t>如 </a:t>
            </a:r>
            <a:r>
              <a:rPr lang="en-US" altLang="zh-CN" sz="1800"/>
              <a:t>MMLongBench-Doc、LongDocURL、ColPali、ColQwen2.5、ViDoRAG </a:t>
            </a:r>
            <a:r>
              <a:rPr lang="zh-CN" altLang="en-US" sz="1800"/>
              <a:t>等。</a:t>
            </a:r>
            <a:endParaRPr lang="zh-CN" altLang="en-US" sz="1800"/>
          </a:p>
          <a:p>
            <a:pPr marL="0" indent="0">
              <a:buNone/>
            </a:pP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/>
              <a:t>提出了一个用于评测多模态大模型（</a:t>
            </a:r>
            <a:r>
              <a:rPr lang="en-US" altLang="zh-CN" sz="1800"/>
              <a:t>MLLM）</a:t>
            </a:r>
            <a:r>
              <a:rPr lang="zh-CN" altLang="en-US" sz="1800"/>
              <a:t>金融数值推理能力的双语基准。它要求模型同时理解金融情境、阅读长篇且图表密集的金融文档，并完成严格的多步骤数值计算。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</a:t>
            </a:r>
            <a:r>
              <a:rPr lang="zh-CN" altLang="en-US" sz="1800"/>
              <a:t>大部分模型处理图像形式长文档时，反而不如 </a:t>
            </a:r>
            <a:r>
              <a:rPr lang="en-US" altLang="zh-CN" sz="1800"/>
              <a:t>OCR </a:t>
            </a:r>
            <a:r>
              <a:rPr lang="zh-CN" altLang="en-US" sz="1800"/>
              <a:t>后交给纯文本 </a:t>
            </a:r>
            <a:r>
              <a:rPr lang="en-US" altLang="zh-CN" sz="1800"/>
              <a:t>LLM；</a:t>
            </a:r>
            <a:r>
              <a:rPr lang="zh-CN" altLang="en-US" sz="1800"/>
              <a:t>情境越多、文档越长、证据页越靠后、抽取或计算步骤越多，模型准确率越低。错误主要来自文档理解/信息抽取，而非纯算术</a:t>
            </a:r>
            <a:endParaRPr lang="zh-CN" altLang="en-US" sz="1800"/>
          </a:p>
          <a:p>
            <a:pPr marL="0" indent="0">
              <a:buNone/>
            </a:pPr>
            <a:r>
              <a:rPr lang="en-US" altLang="zh-CN" sz="1800"/>
              <a:t>-rag </a:t>
            </a:r>
            <a:r>
              <a:rPr lang="zh-CN" altLang="en-US" sz="1800"/>
              <a:t>的检索阶段，视觉检索优于纯文本检索。多步骤 </a:t>
            </a:r>
            <a:r>
              <a:rPr lang="en-US" altLang="zh-CN" sz="1800"/>
              <a:t>Agentic RAG </a:t>
            </a:r>
            <a:r>
              <a:rPr lang="zh-CN" altLang="en-US" sz="1800"/>
              <a:t>并未超过较简单的视觉检索方案，且耗费更多 </a:t>
            </a:r>
            <a:r>
              <a:rPr lang="en-US" altLang="zh-CN" sz="1800"/>
              <a:t>token </a:t>
            </a:r>
            <a:r>
              <a:rPr lang="zh-CN" altLang="en-US" sz="1800"/>
              <a:t>和时间。</a:t>
            </a:r>
            <a:r>
              <a:rPr lang="en-US" altLang="zh-CN" sz="1800"/>
              <a:t>Agent </a:t>
            </a:r>
            <a:r>
              <a:rPr lang="zh-CN" altLang="en-US" sz="1800"/>
              <a:t>工作流过长会放大上游检索、推理或计算错误，形成误差传播；迭代代理还存在延迟高、收益有限的问题。</a:t>
            </a:r>
            <a:endParaRPr lang="zh-CN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3739</Words>
  <Application>WPS 演示</Application>
  <PresentationFormat>宽屏</PresentationFormat>
  <Paragraphs>100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Integrative stock price trend prediction via hierarchical LLM text processing and patch-based transformer with co-attention Expert Systems With Applications 2026 Nanjing Normal University</vt:lpstr>
      <vt:lpstr>TGNS: A transformer-based graph neural network for stock trend  forecasting Information Sciences 2025 沈阳计算所</vt:lpstr>
      <vt:lpstr>Kronos: A Foundation Model for the Language of Financial Markets 清华</vt:lpstr>
      <vt:lpstr>FinRpt: Dataset, Evaluation System and LLM-based Multi-agent Framework for Equity Research Report Generation 人大</vt:lpstr>
      <vt:lpstr>TermGPT: Multi-Level Contrastive Fine-Tuning for Terminology Adaptation in Legal and Financial Domains 浙大</vt:lpstr>
      <vt:lpstr>FinMMDocR: Benchmarking Financial Multimodal Reasoning with Scenario Awareness, Document Understanding, and Multi-Step Computation 北邮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李焯</dc:creator>
  <cp:lastModifiedBy>哲欣</cp:lastModifiedBy>
  <cp:revision>28</cp:revision>
  <dcterms:created xsi:type="dcterms:W3CDTF">2023-08-09T12:44:00Z</dcterms:created>
  <dcterms:modified xsi:type="dcterms:W3CDTF">2026-07-20T09:44:58Z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A0A7125DB81A44B99D8A1974663D85C6_12</vt:lpwstr>
  </property>
</Properties>
</file>